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Average"/>
      <p:regular r:id="rId23"/>
    </p:embeddedFont>
    <p:embeddedFont>
      <p:font typeface="Oswald"/>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Oswald-regular.fntdata"/><Relationship Id="rId23" Type="http://schemas.openxmlformats.org/officeDocument/2006/relationships/font" Target="fonts/Averag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5" Type="http://schemas.openxmlformats.org/officeDocument/2006/relationships/font" Target="fonts/Oswald-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5e6de6207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5e6de6207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5e6de6207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5e6de6207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5e6de6207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b5e6de6207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b5e6de6207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b5e6de6207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b5e6de6207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b5e6de6207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5e6de6207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b5e6de6207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5e6de6207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5e6de6207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b5e6de6207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b5e6de6207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b5e6de6207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b5e6de6207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b5e6de6207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b5e6de6207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5e6de6207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b5e6de6207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b5e6de6207_0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b5e6de6207_0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5e6de6207_0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b5e6de6207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b5e6de6207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b5e6de6207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b5e6de6207_0_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b5e6de6207_0_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b5e6de6207_0_9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b5e6de6207_0_9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grpSp>
        <p:nvGrpSpPr>
          <p:cNvPr id="55" name="Google Shape;55;p14"/>
          <p:cNvGrpSpPr/>
          <p:nvPr/>
        </p:nvGrpSpPr>
        <p:grpSpPr>
          <a:xfrm>
            <a:off x="4350279" y="2855377"/>
            <a:ext cx="443589" cy="105632"/>
            <a:chOff x="4137525" y="2915950"/>
            <a:chExt cx="869100" cy="207000"/>
          </a:xfrm>
        </p:grpSpPr>
        <p:sp>
          <p:nvSpPr>
            <p:cNvPr id="56" name="Google Shape;56;p14"/>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14"/>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60" name="Google Shape;60;p14"/>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1" name="Google Shape;61;p1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 name="Shape 62"/>
        <p:cNvGrpSpPr/>
        <p:nvPr/>
      </p:nvGrpSpPr>
      <p:grpSpPr>
        <a:xfrm>
          <a:off x="0" y="0"/>
          <a:ext cx="0" cy="0"/>
          <a:chOff x="0" y="0"/>
          <a:chExt cx="0" cy="0"/>
        </a:xfrm>
      </p:grpSpPr>
      <p:sp>
        <p:nvSpPr>
          <p:cNvPr id="63" name="Google Shape;63;p15"/>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4" name="Google Shape;64;p1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7" name="Google Shape;67;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8" name="Google Shape;68;p1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9" name="Shape 69"/>
        <p:cNvGrpSpPr/>
        <p:nvPr/>
      </p:nvGrpSpPr>
      <p:grpSpPr>
        <a:xfrm>
          <a:off x="0" y="0"/>
          <a:ext cx="0" cy="0"/>
          <a:chOff x="0" y="0"/>
          <a:chExt cx="0" cy="0"/>
        </a:xfrm>
      </p:grpSpPr>
      <p:sp>
        <p:nvSpPr>
          <p:cNvPr id="70" name="Google Shape;70;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1" name="Google Shape;71;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2" name="Google Shape;72;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3" name="Google Shape;73;p1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4" name="Shape 74"/>
        <p:cNvGrpSpPr/>
        <p:nvPr/>
      </p:nvGrpSpPr>
      <p:grpSpPr>
        <a:xfrm>
          <a:off x="0" y="0"/>
          <a:ext cx="0" cy="0"/>
          <a:chOff x="0" y="0"/>
          <a:chExt cx="0" cy="0"/>
        </a:xfrm>
      </p:grpSpPr>
      <p:sp>
        <p:nvSpPr>
          <p:cNvPr id="75" name="Google Shape;75;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6" name="Google Shape;76;p1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9" name="Google Shape;79;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0" name="Google Shape;80;p1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81" name="Shape 81"/>
        <p:cNvGrpSpPr/>
        <p:nvPr/>
      </p:nvGrpSpPr>
      <p:grpSpPr>
        <a:xfrm>
          <a:off x="0" y="0"/>
          <a:ext cx="0" cy="0"/>
          <a:chOff x="0" y="0"/>
          <a:chExt cx="0" cy="0"/>
        </a:xfrm>
      </p:grpSpPr>
      <p:sp>
        <p:nvSpPr>
          <p:cNvPr id="82" name="Google Shape;82;p20"/>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83" name="Google Shape;83;p2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4" name="Shape 84"/>
        <p:cNvGrpSpPr/>
        <p:nvPr/>
      </p:nvGrpSpPr>
      <p:grpSpPr>
        <a:xfrm>
          <a:off x="0" y="0"/>
          <a:ext cx="0" cy="0"/>
          <a:chOff x="0" y="0"/>
          <a:chExt cx="0" cy="0"/>
        </a:xfrm>
      </p:grpSpPr>
      <p:sp>
        <p:nvSpPr>
          <p:cNvPr id="85" name="Google Shape;85;p21"/>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 name="Google Shape;86;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87" name="Google Shape;87;p21"/>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8" name="Google Shape;88;p21"/>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89" name="Google Shape;89;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90" name="Google Shape;90;p2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93" name="Google Shape;93;p2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4" name="Shape 94"/>
        <p:cNvGrpSpPr/>
        <p:nvPr/>
      </p:nvGrpSpPr>
      <p:grpSpPr>
        <a:xfrm>
          <a:off x="0" y="0"/>
          <a:ext cx="0" cy="0"/>
          <a:chOff x="0" y="0"/>
          <a:chExt cx="0" cy="0"/>
        </a:xfrm>
      </p:grpSpPr>
      <p:sp>
        <p:nvSpPr>
          <p:cNvPr id="95" name="Google Shape;95;p23"/>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6" name="Google Shape;96;p23"/>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7" name="Google Shape;97;p2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53" name="Google Shape;53;p1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hyperlink" Target="https://archive.ics.uci.edu/dataset/373/drug+consumption+quantifie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hyperlink" Target="https://docs.google.com/spreadsheets/d/1ELvo4NLeOdF1JmAAhxz7UHt85nzaauMW2xkVVpqtnAY/edit?usp=sharin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5"/>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l"/>
              <a:t>Regression and Classification projects</a:t>
            </a:r>
            <a:endParaRPr/>
          </a:p>
        </p:txBody>
      </p:sp>
      <p:sp>
        <p:nvSpPr>
          <p:cNvPr id="105" name="Google Shape;105;p25"/>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Predicting Uber rides prices and drugs usage</a:t>
            </a:r>
            <a:endParaRPr/>
          </a:p>
        </p:txBody>
      </p:sp>
      <p:sp>
        <p:nvSpPr>
          <p:cNvPr id="106" name="Google Shape;106;p25"/>
          <p:cNvSpPr txBox="1"/>
          <p:nvPr/>
        </p:nvSpPr>
        <p:spPr>
          <a:xfrm>
            <a:off x="1123650" y="4106875"/>
            <a:ext cx="7042800" cy="31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l" sz="1800">
                <a:solidFill>
                  <a:schemeClr val="dk2"/>
                </a:solidFill>
              </a:rPr>
              <a:t>Dawid Grzesiak 473172 &amp; Ahmad Huseynov 457962</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Classification - Data</a:t>
            </a:r>
            <a:endParaRPr/>
          </a:p>
        </p:txBody>
      </p:sp>
      <p:sp>
        <p:nvSpPr>
          <p:cNvPr id="112" name="Google Shape;11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pl"/>
              <a:t>Source: UCI Machine Learning Repository. URL: </a:t>
            </a:r>
            <a:r>
              <a:rPr lang="pl" u="sng">
                <a:solidFill>
                  <a:schemeClr val="hlink"/>
                </a:solidFill>
                <a:hlinkClick r:id="rId3"/>
              </a:rPr>
              <a:t>https://archive.ics.uci.edu/dataset/373/drug+consumption+quantified</a:t>
            </a:r>
            <a:endParaRPr/>
          </a:p>
          <a:p>
            <a:pPr indent="-342900" lvl="0" marL="457200" rtl="0" algn="l">
              <a:spcBef>
                <a:spcPts val="0"/>
              </a:spcBef>
              <a:spcAft>
                <a:spcPts val="0"/>
              </a:spcAft>
              <a:buSzPts val="1800"/>
              <a:buChar char="-"/>
            </a:pPr>
            <a:r>
              <a:rPr lang="pl"/>
              <a:t>The independent variables include </a:t>
            </a:r>
            <a:r>
              <a:rPr b="1" lang="pl"/>
              <a:t>demographic </a:t>
            </a:r>
            <a:r>
              <a:rPr lang="pl"/>
              <a:t>(categorical) features related to the identity of the study participants, such as age, gender, education, country, and ethnicity.</a:t>
            </a:r>
            <a:endParaRPr/>
          </a:p>
          <a:p>
            <a:pPr indent="-342900" lvl="0" marL="457200" rtl="0" algn="l">
              <a:spcBef>
                <a:spcPts val="0"/>
              </a:spcBef>
              <a:spcAft>
                <a:spcPts val="0"/>
              </a:spcAft>
              <a:buSzPts val="1800"/>
              <a:buChar char="-"/>
            </a:pPr>
            <a:r>
              <a:rPr lang="pl"/>
              <a:t>The second group of independent variables are about </a:t>
            </a:r>
            <a:r>
              <a:rPr b="1" lang="pl"/>
              <a:t>personality traits</a:t>
            </a:r>
            <a:r>
              <a:rPr lang="pl"/>
              <a:t> such as neuroticism, extraversion, openness to experience, agreeableness, conscientiousness, impulsiveness, sensation</a:t>
            </a:r>
            <a:endParaRPr/>
          </a:p>
          <a:p>
            <a:pPr indent="-342900" lvl="0" marL="457200" rtl="0" algn="l">
              <a:spcBef>
                <a:spcPts val="0"/>
              </a:spcBef>
              <a:spcAft>
                <a:spcPts val="0"/>
              </a:spcAft>
              <a:buSzPts val="1800"/>
              <a:buChar char="-"/>
            </a:pPr>
            <a:r>
              <a:rPr lang="pl"/>
              <a:t>The target variables represent </a:t>
            </a:r>
            <a:r>
              <a:rPr b="1" lang="pl"/>
              <a:t>drug usage scores</a:t>
            </a:r>
            <a:r>
              <a:rPr lang="pl"/>
              <a:t> for different substances, ranging from 0 (never used) to 6 (used yesterday).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Main Challenges</a:t>
            </a:r>
            <a:endParaRPr/>
          </a:p>
        </p:txBody>
      </p:sp>
      <p:sp>
        <p:nvSpPr>
          <p:cNvPr id="118" name="Google Shape;11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pl"/>
              <a:t>Two types of drugs - quite evenly distributed soft drugs and highly imbalanced hard drugs, with majority of people who never took it</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4" name="Google Shape;12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5" name="Google Shape;125;p28"/>
          <p:cNvPicPr preferRelativeResize="0"/>
          <p:nvPr/>
        </p:nvPicPr>
        <p:blipFill>
          <a:blip r:embed="rId3">
            <a:alphaModFix/>
          </a:blip>
          <a:stretch>
            <a:fillRect/>
          </a:stretch>
        </p:blipFill>
        <p:spPr>
          <a:xfrm>
            <a:off x="311688" y="255850"/>
            <a:ext cx="2988890" cy="2164550"/>
          </a:xfrm>
          <a:prstGeom prst="rect">
            <a:avLst/>
          </a:prstGeom>
          <a:noFill/>
          <a:ln>
            <a:noFill/>
          </a:ln>
        </p:spPr>
      </p:pic>
      <p:pic>
        <p:nvPicPr>
          <p:cNvPr id="126" name="Google Shape;126;p28"/>
          <p:cNvPicPr preferRelativeResize="0"/>
          <p:nvPr/>
        </p:nvPicPr>
        <p:blipFill>
          <a:blip r:embed="rId4">
            <a:alphaModFix/>
          </a:blip>
          <a:stretch>
            <a:fillRect/>
          </a:stretch>
        </p:blipFill>
        <p:spPr>
          <a:xfrm>
            <a:off x="311713" y="2728013"/>
            <a:ext cx="2988861" cy="2205425"/>
          </a:xfrm>
          <a:prstGeom prst="rect">
            <a:avLst/>
          </a:prstGeom>
          <a:noFill/>
          <a:ln>
            <a:noFill/>
          </a:ln>
        </p:spPr>
      </p:pic>
      <p:pic>
        <p:nvPicPr>
          <p:cNvPr id="127" name="Google Shape;127;p28"/>
          <p:cNvPicPr preferRelativeResize="0"/>
          <p:nvPr/>
        </p:nvPicPr>
        <p:blipFill>
          <a:blip r:embed="rId5">
            <a:alphaModFix/>
          </a:blip>
          <a:stretch>
            <a:fillRect/>
          </a:stretch>
        </p:blipFill>
        <p:spPr>
          <a:xfrm>
            <a:off x="5536425" y="257500"/>
            <a:ext cx="2988875" cy="2161259"/>
          </a:xfrm>
          <a:prstGeom prst="rect">
            <a:avLst/>
          </a:prstGeom>
          <a:noFill/>
          <a:ln>
            <a:noFill/>
          </a:ln>
        </p:spPr>
      </p:pic>
      <p:pic>
        <p:nvPicPr>
          <p:cNvPr id="128" name="Google Shape;128;p28"/>
          <p:cNvPicPr preferRelativeResize="0"/>
          <p:nvPr/>
        </p:nvPicPr>
        <p:blipFill>
          <a:blip r:embed="rId6">
            <a:alphaModFix/>
          </a:blip>
          <a:stretch>
            <a:fillRect/>
          </a:stretch>
        </p:blipFill>
        <p:spPr>
          <a:xfrm>
            <a:off x="5536425" y="2748450"/>
            <a:ext cx="2988874" cy="2164550"/>
          </a:xfrm>
          <a:prstGeom prst="rect">
            <a:avLst/>
          </a:prstGeom>
          <a:noFill/>
          <a:ln>
            <a:noFill/>
          </a:ln>
        </p:spPr>
      </p:pic>
      <p:sp>
        <p:nvSpPr>
          <p:cNvPr id="129" name="Google Shape;129;p28"/>
          <p:cNvSpPr txBox="1"/>
          <p:nvPr/>
        </p:nvSpPr>
        <p:spPr>
          <a:xfrm>
            <a:off x="3694300" y="2285400"/>
            <a:ext cx="14484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l" sz="4000">
                <a:solidFill>
                  <a:schemeClr val="accent3"/>
                </a:solidFill>
                <a:latin typeface="Average"/>
                <a:ea typeface="Average"/>
                <a:cs typeface="Average"/>
                <a:sym typeface="Average"/>
              </a:rPr>
              <a:t>VS</a:t>
            </a:r>
            <a:endParaRPr sz="4000">
              <a:solidFill>
                <a:schemeClr val="accent3"/>
              </a:solidFill>
              <a:latin typeface="Average"/>
              <a:ea typeface="Average"/>
              <a:cs typeface="Average"/>
              <a:sym typeface="Averag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Main Challenges Imposed by the Data</a:t>
            </a:r>
            <a:endParaRPr/>
          </a:p>
        </p:txBody>
      </p:sp>
      <p:sp>
        <p:nvSpPr>
          <p:cNvPr id="135" name="Google Shape;13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334327" lvl="0" marL="457200" rtl="0" algn="l">
              <a:spcBef>
                <a:spcPts val="0"/>
              </a:spcBef>
              <a:spcAft>
                <a:spcPts val="0"/>
              </a:spcAft>
              <a:buSzPct val="100000"/>
              <a:buAutoNum type="arabicPeriod"/>
            </a:pPr>
            <a:r>
              <a:rPr lang="pl"/>
              <a:t>Two types of drugs - quite evenly distributed soft drugs such as alcohol or cannabis and </a:t>
            </a:r>
            <a:r>
              <a:rPr b="1" lang="pl"/>
              <a:t>highly imbalanced </a:t>
            </a:r>
            <a:r>
              <a:rPr lang="pl"/>
              <a:t>hard drugs, with majority of people who never took it.</a:t>
            </a:r>
            <a:endParaRPr/>
          </a:p>
          <a:p>
            <a:pPr indent="-334327" lvl="0" marL="457200" rtl="0" algn="l">
              <a:spcBef>
                <a:spcPts val="0"/>
              </a:spcBef>
              <a:spcAft>
                <a:spcPts val="0"/>
              </a:spcAft>
              <a:buSzPct val="100000"/>
              <a:buAutoNum type="arabicPeriod"/>
            </a:pPr>
            <a:r>
              <a:rPr lang="pl"/>
              <a:t>Quite small dataset of almost 2K rows with risk to overfitting</a:t>
            </a:r>
            <a:endParaRPr/>
          </a:p>
          <a:p>
            <a:pPr indent="-334327" lvl="0" marL="457200" rtl="0" algn="l">
              <a:spcBef>
                <a:spcPts val="0"/>
              </a:spcBef>
              <a:spcAft>
                <a:spcPts val="0"/>
              </a:spcAft>
              <a:buSzPct val="100000"/>
              <a:buAutoNum type="arabicPeriod"/>
            </a:pPr>
            <a:r>
              <a:rPr lang="pl"/>
              <a:t>Properly distinguishing between different drug types (soft vs. hard) is necessary for the correct interpretation of their impact on machine learning classification results.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How did we address these challenges?</a:t>
            </a:r>
            <a:endParaRPr/>
          </a:p>
        </p:txBody>
      </p:sp>
      <p:sp>
        <p:nvSpPr>
          <p:cNvPr id="141" name="Google Shape;14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pl"/>
              <a:t>Redefining the target variable as </a:t>
            </a:r>
            <a:r>
              <a:rPr b="1" lang="pl"/>
              <a:t>recent drug user vs non-recent user, </a:t>
            </a:r>
            <a:r>
              <a:rPr lang="pl"/>
              <a:t>where ‘recent’ means taking a drug in the last 12 months. The class imbalance issue persists, but now the main emphasis is on detecting the recent users, not defining how often do they use particular drugs.</a:t>
            </a:r>
            <a:endParaRPr/>
          </a:p>
          <a:p>
            <a:pPr indent="-342900" lvl="0" marL="457200" rtl="0" algn="l">
              <a:spcBef>
                <a:spcPts val="0"/>
              </a:spcBef>
              <a:spcAft>
                <a:spcPts val="0"/>
              </a:spcAft>
              <a:buSzPts val="1800"/>
              <a:buChar char="-"/>
            </a:pPr>
            <a:r>
              <a:rPr b="1" lang="pl"/>
              <a:t>Stratified split</a:t>
            </a:r>
            <a:r>
              <a:rPr lang="pl"/>
              <a:t> with respect to the given target variable (drug)</a:t>
            </a:r>
            <a:endParaRPr/>
          </a:p>
          <a:p>
            <a:pPr indent="0" lvl="0" marL="45720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Key insights from EDA</a:t>
            </a:r>
            <a:endParaRPr/>
          </a:p>
        </p:txBody>
      </p:sp>
      <p:sp>
        <p:nvSpPr>
          <p:cNvPr id="147" name="Google Shape;14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t/>
            </a:r>
            <a:endParaRPr/>
          </a:p>
        </p:txBody>
      </p:sp>
      <p:pic>
        <p:nvPicPr>
          <p:cNvPr id="148" name="Google Shape;148;p31"/>
          <p:cNvPicPr preferRelativeResize="0"/>
          <p:nvPr/>
        </p:nvPicPr>
        <p:blipFill>
          <a:blip r:embed="rId3">
            <a:alphaModFix/>
          </a:blip>
          <a:stretch>
            <a:fillRect/>
          </a:stretch>
        </p:blipFill>
        <p:spPr>
          <a:xfrm>
            <a:off x="3669025" y="1017725"/>
            <a:ext cx="5163274" cy="4058375"/>
          </a:xfrm>
          <a:prstGeom prst="rect">
            <a:avLst/>
          </a:prstGeom>
          <a:noFill/>
          <a:ln>
            <a:noFill/>
          </a:ln>
        </p:spPr>
      </p:pic>
      <p:sp>
        <p:nvSpPr>
          <p:cNvPr id="149" name="Google Shape;149;p31"/>
          <p:cNvSpPr txBox="1"/>
          <p:nvPr/>
        </p:nvSpPr>
        <p:spPr>
          <a:xfrm>
            <a:off x="596125" y="1350500"/>
            <a:ext cx="2835600" cy="3218400"/>
          </a:xfrm>
          <a:prstGeom prst="rect">
            <a:avLst/>
          </a:prstGeom>
          <a:noFill/>
          <a:ln>
            <a:noFill/>
          </a:ln>
        </p:spPr>
        <p:txBody>
          <a:bodyPr anchorCtr="0" anchor="ctr" bIns="91425" lIns="91425" spcFirstLastPara="1" rIns="91425" wrap="square" tIns="91425">
            <a:noAutofit/>
          </a:bodyPr>
          <a:lstStyle/>
          <a:p>
            <a:pPr indent="-342900" lvl="0" marL="457200" rtl="0" algn="l">
              <a:lnSpc>
                <a:spcPct val="115000"/>
              </a:lnSpc>
              <a:spcBef>
                <a:spcPts val="0"/>
              </a:spcBef>
              <a:spcAft>
                <a:spcPts val="0"/>
              </a:spcAft>
              <a:buClr>
                <a:schemeClr val="accent3"/>
              </a:buClr>
              <a:buSzPts val="1800"/>
              <a:buFont typeface="Average"/>
              <a:buAutoNum type="arabicPeriod"/>
            </a:pPr>
            <a:r>
              <a:rPr lang="pl" sz="1800">
                <a:solidFill>
                  <a:schemeClr val="accent3"/>
                </a:solidFill>
                <a:latin typeface="Average"/>
                <a:ea typeface="Average"/>
                <a:cs typeface="Average"/>
                <a:sym typeface="Average"/>
              </a:rPr>
              <a:t>Taking one drug is </a:t>
            </a:r>
            <a:endParaRPr sz="1800">
              <a:solidFill>
                <a:schemeClr val="accent3"/>
              </a:solidFill>
              <a:latin typeface="Average"/>
              <a:ea typeface="Average"/>
              <a:cs typeface="Average"/>
              <a:sym typeface="Average"/>
            </a:endParaRPr>
          </a:p>
          <a:p>
            <a:pPr indent="0" lvl="0" marL="0" rtl="0" algn="l">
              <a:lnSpc>
                <a:spcPct val="115000"/>
              </a:lnSpc>
              <a:spcBef>
                <a:spcPts val="1200"/>
              </a:spcBef>
              <a:spcAft>
                <a:spcPts val="1200"/>
              </a:spcAft>
              <a:buNone/>
            </a:pPr>
            <a:r>
              <a:rPr lang="pl" sz="1800">
                <a:solidFill>
                  <a:schemeClr val="accent3"/>
                </a:solidFill>
                <a:latin typeface="Average"/>
                <a:ea typeface="Average"/>
                <a:cs typeface="Average"/>
                <a:sym typeface="Average"/>
              </a:rPr>
              <a:t>correlated with taking another</a:t>
            </a:r>
            <a:endParaRPr sz="1800">
              <a:solidFill>
                <a:schemeClr val="accent3"/>
              </a:solidFill>
              <a:latin typeface="Average"/>
              <a:ea typeface="Average"/>
              <a:cs typeface="Average"/>
              <a:sym typeface="Averag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Key insights from EDA</a:t>
            </a:r>
            <a:endParaRPr/>
          </a:p>
          <a:p>
            <a:pPr indent="0" lvl="0" marL="0" rtl="0" algn="l">
              <a:spcBef>
                <a:spcPts val="0"/>
              </a:spcBef>
              <a:spcAft>
                <a:spcPts val="0"/>
              </a:spcAft>
              <a:buNone/>
            </a:pPr>
            <a:r>
              <a:t/>
            </a:r>
            <a:endParaRPr/>
          </a:p>
        </p:txBody>
      </p:sp>
      <p:sp>
        <p:nvSpPr>
          <p:cNvPr id="155" name="Google Shape;155;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2. Conclusion from point 1: we are rather talking about likelihood of taking drugs in general, not only-one-drug users. That is why for EDA purposes we create the </a:t>
            </a:r>
            <a:r>
              <a:rPr b="1" lang="pl"/>
              <a:t>general_drug_usage score,</a:t>
            </a:r>
            <a:r>
              <a:rPr lang="pl"/>
              <a:t> summing up all the initial 0-6 drug scores.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56" name="Google Shape;156;p32"/>
          <p:cNvPicPr preferRelativeResize="0"/>
          <p:nvPr/>
        </p:nvPicPr>
        <p:blipFill>
          <a:blip r:embed="rId3">
            <a:alphaModFix/>
          </a:blip>
          <a:stretch>
            <a:fillRect/>
          </a:stretch>
        </p:blipFill>
        <p:spPr>
          <a:xfrm>
            <a:off x="1634125" y="2353575"/>
            <a:ext cx="5875750" cy="2493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Key insights from EDA</a:t>
            </a:r>
            <a:endParaRPr/>
          </a:p>
          <a:p>
            <a:pPr indent="0" lvl="0" marL="0" rtl="0" algn="l">
              <a:spcBef>
                <a:spcPts val="0"/>
              </a:spcBef>
              <a:spcAft>
                <a:spcPts val="0"/>
              </a:spcAft>
              <a:buNone/>
            </a:pPr>
            <a:r>
              <a:t/>
            </a:r>
            <a:endParaRPr/>
          </a:p>
        </p:txBody>
      </p:sp>
      <p:sp>
        <p:nvSpPr>
          <p:cNvPr id="162" name="Google Shape;162;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pl"/>
              <a:t>3. From exploring the descriptive statistics of general drug score per different age groups, gender etc, we discovered:</a:t>
            </a:r>
            <a:endParaRPr/>
          </a:p>
          <a:p>
            <a:pPr indent="-342900" lvl="0" marL="457200" rtl="0" algn="l">
              <a:spcBef>
                <a:spcPts val="1200"/>
              </a:spcBef>
              <a:spcAft>
                <a:spcPts val="0"/>
              </a:spcAft>
              <a:buSzPts val="1800"/>
              <a:buChar char="-"/>
            </a:pPr>
            <a:r>
              <a:rPr lang="pl"/>
              <a:t>the </a:t>
            </a:r>
            <a:r>
              <a:rPr b="1" lang="pl"/>
              <a:t>young male signal</a:t>
            </a:r>
            <a:r>
              <a:rPr lang="pl"/>
              <a:t>: drug usage peaks in the 18-24 age group (median 40 vs 18.5 in the oldest group) and males consume more than females (median 38 vs 25);</a:t>
            </a:r>
            <a:endParaRPr/>
          </a:p>
          <a:p>
            <a:pPr indent="-342900" lvl="0" marL="457200" rtl="0" algn="l">
              <a:spcBef>
                <a:spcPts val="0"/>
              </a:spcBef>
              <a:spcAft>
                <a:spcPts val="0"/>
              </a:spcAft>
              <a:buSzPts val="1800"/>
              <a:buChar char="-"/>
            </a:pPr>
            <a:r>
              <a:rPr lang="pl"/>
              <a:t>the </a:t>
            </a:r>
            <a:r>
              <a:rPr b="1" lang="pl"/>
              <a:t>American affect</a:t>
            </a:r>
            <a:r>
              <a:rPr lang="pl"/>
              <a:t>: Americans exhibiting 30% of the data have median usage score of 43, creating a sharp contrast against the Brits being 50% of the data;</a:t>
            </a:r>
            <a:endParaRPr/>
          </a:p>
          <a:p>
            <a:pPr indent="-342900" lvl="0" marL="457200" rtl="0" algn="l">
              <a:spcBef>
                <a:spcPts val="0"/>
              </a:spcBef>
              <a:spcAft>
                <a:spcPts val="0"/>
              </a:spcAft>
              <a:buSzPts val="1800"/>
              <a:buChar char="-"/>
            </a:pPr>
            <a:r>
              <a:rPr lang="pl"/>
              <a:t>the data is ethnically dominated by white people (91%), that’s why relying the further feature engineering on ethnicity imposes the risk of overfitting in the case of minority groups;</a:t>
            </a:r>
            <a:endParaRPr/>
          </a:p>
          <a:p>
            <a:pPr indent="-342900" lvl="0" marL="457200" rtl="0" algn="l">
              <a:spcBef>
                <a:spcPts val="0"/>
              </a:spcBef>
              <a:spcAft>
                <a:spcPts val="0"/>
              </a:spcAft>
              <a:buSzPts val="1800"/>
              <a:buChar char="-"/>
            </a:pPr>
            <a:r>
              <a:rPr lang="pl"/>
              <a:t>Willingness to take drugs is correlated with personality traits as </a:t>
            </a:r>
            <a:r>
              <a:rPr b="1" lang="pl"/>
              <a:t>impulsiveness, openness to experience and neuroticism</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Modelling</a:t>
            </a:r>
            <a:endParaRPr/>
          </a:p>
        </p:txBody>
      </p:sp>
      <p:sp>
        <p:nvSpPr>
          <p:cNvPr id="168" name="Google Shape;168;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pl"/>
              <a:t>We trained 3 algorithms:</a:t>
            </a:r>
            <a:endParaRPr/>
          </a:p>
          <a:p>
            <a:pPr indent="-325755" lvl="0" marL="457200" rtl="0" algn="l">
              <a:spcBef>
                <a:spcPts val="1200"/>
              </a:spcBef>
              <a:spcAft>
                <a:spcPts val="0"/>
              </a:spcAft>
              <a:buSzPct val="100000"/>
              <a:buAutoNum type="arabicPeriod"/>
            </a:pPr>
            <a:r>
              <a:rPr b="1" lang="pl"/>
              <a:t>Stochastic Gradient Descent (SGD) binary classifier</a:t>
            </a:r>
            <a:endParaRPr b="1"/>
          </a:p>
          <a:p>
            <a:pPr indent="-325755" lvl="0" marL="457200" rtl="0" algn="l">
              <a:spcBef>
                <a:spcPts val="0"/>
              </a:spcBef>
              <a:spcAft>
                <a:spcPts val="0"/>
              </a:spcAft>
              <a:buSzPct val="100000"/>
              <a:buAutoNum type="arabicPeriod"/>
            </a:pPr>
            <a:r>
              <a:rPr b="1" lang="pl"/>
              <a:t>Random Forest with bootstrapping</a:t>
            </a:r>
            <a:endParaRPr b="1"/>
          </a:p>
          <a:p>
            <a:pPr indent="-325755" lvl="0" marL="457200" rtl="0" algn="l">
              <a:spcBef>
                <a:spcPts val="0"/>
              </a:spcBef>
              <a:spcAft>
                <a:spcPts val="0"/>
              </a:spcAft>
              <a:buSzPct val="100000"/>
              <a:buAutoNum type="arabicPeriod"/>
            </a:pPr>
            <a:r>
              <a:rPr b="1" lang="pl"/>
              <a:t>Support Vector Machine</a:t>
            </a:r>
            <a:endParaRPr b="1"/>
          </a:p>
          <a:p>
            <a:pPr indent="0" lvl="0" marL="0" rtl="0" algn="l">
              <a:spcBef>
                <a:spcPts val="1200"/>
              </a:spcBef>
              <a:spcAft>
                <a:spcPts val="0"/>
              </a:spcAft>
              <a:buNone/>
            </a:pPr>
            <a:r>
              <a:rPr lang="pl"/>
              <a:t>We analyzed 4 different performance metrics:</a:t>
            </a:r>
            <a:endParaRPr/>
          </a:p>
          <a:p>
            <a:pPr indent="-325755" lvl="0" marL="457200" rtl="0" algn="l">
              <a:spcBef>
                <a:spcPts val="1200"/>
              </a:spcBef>
              <a:spcAft>
                <a:spcPts val="0"/>
              </a:spcAft>
              <a:buSzPct val="100000"/>
              <a:buChar char="-"/>
            </a:pPr>
            <a:r>
              <a:rPr lang="pl"/>
              <a:t>Base Accuracy (predict the most frequent class for each instance)</a:t>
            </a:r>
            <a:endParaRPr/>
          </a:p>
          <a:p>
            <a:pPr indent="-325755" lvl="0" marL="457200" rtl="0" algn="l">
              <a:spcBef>
                <a:spcPts val="0"/>
              </a:spcBef>
              <a:spcAft>
                <a:spcPts val="0"/>
              </a:spcAft>
              <a:buSzPct val="100000"/>
              <a:buChar char="-"/>
            </a:pPr>
            <a:r>
              <a:rPr b="1" lang="pl"/>
              <a:t>Balanced Accuracy</a:t>
            </a:r>
            <a:endParaRPr b="1"/>
          </a:p>
          <a:p>
            <a:pPr indent="-325755" lvl="0" marL="457200" rtl="0" algn="l">
              <a:spcBef>
                <a:spcPts val="0"/>
              </a:spcBef>
              <a:spcAft>
                <a:spcPts val="0"/>
              </a:spcAft>
              <a:buSzPct val="100000"/>
              <a:buChar char="-"/>
            </a:pPr>
            <a:r>
              <a:rPr b="1" lang="pl"/>
              <a:t>Precision</a:t>
            </a:r>
            <a:endParaRPr b="1"/>
          </a:p>
          <a:p>
            <a:pPr indent="-325755" lvl="0" marL="457200" rtl="0" algn="l">
              <a:spcBef>
                <a:spcPts val="0"/>
              </a:spcBef>
              <a:spcAft>
                <a:spcPts val="0"/>
              </a:spcAft>
              <a:buSzPct val="100000"/>
              <a:buChar char="-"/>
            </a:pPr>
            <a:r>
              <a:rPr b="1" lang="pl"/>
              <a:t>Recall</a:t>
            </a:r>
            <a:endParaRPr b="1"/>
          </a:p>
          <a:p>
            <a:pPr indent="0" lvl="0" marL="0" rtl="0" algn="l">
              <a:spcBef>
                <a:spcPts val="1200"/>
              </a:spcBef>
              <a:spcAft>
                <a:spcPts val="1200"/>
              </a:spcAft>
              <a:buNone/>
            </a:pPr>
            <a:r>
              <a:rPr lang="pl"/>
              <a:t>The performance was measured using</a:t>
            </a:r>
            <a:r>
              <a:rPr b="1" lang="pl"/>
              <a:t> k-fold cross validation</a:t>
            </a:r>
            <a:r>
              <a:rPr lang="pl"/>
              <a:t>, except for Algorithm 2, where we used the </a:t>
            </a:r>
            <a:r>
              <a:rPr b="1" lang="pl"/>
              <a:t>out-of-bag subsample</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Importance of hyperparameters tuning</a:t>
            </a:r>
            <a:endParaRPr/>
          </a:p>
        </p:txBody>
      </p:sp>
      <p:sp>
        <p:nvSpPr>
          <p:cNvPr id="174" name="Google Shape;174;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pl" sz="2400"/>
              <a:t>Metrics concerned: </a:t>
            </a:r>
            <a:r>
              <a:rPr b="1" lang="pl" sz="2400"/>
              <a:t>balanced accuracy</a:t>
            </a:r>
            <a:r>
              <a:rPr lang="pl" sz="2400"/>
              <a:t>, </a:t>
            </a:r>
            <a:r>
              <a:rPr b="1" lang="pl" sz="2400"/>
              <a:t>precision </a:t>
            </a:r>
            <a:r>
              <a:rPr lang="pl" sz="2400"/>
              <a:t>and </a:t>
            </a:r>
            <a:r>
              <a:rPr b="1" lang="pl" sz="2400"/>
              <a:t>recall</a:t>
            </a:r>
            <a:r>
              <a:rPr lang="pl" sz="2400"/>
              <a:t>:</a:t>
            </a:r>
            <a:endParaRPr sz="2400"/>
          </a:p>
          <a:p>
            <a:pPr indent="-335280" lvl="0" marL="457200" rtl="0" algn="l">
              <a:spcBef>
                <a:spcPts val="1200"/>
              </a:spcBef>
              <a:spcAft>
                <a:spcPts val="0"/>
              </a:spcAft>
              <a:buSzPct val="100000"/>
              <a:buChar char="-"/>
            </a:pPr>
            <a:r>
              <a:rPr lang="pl" sz="2400"/>
              <a:t>For all the 3 algorithms, </a:t>
            </a:r>
            <a:r>
              <a:rPr b="1" lang="pl" sz="2400"/>
              <a:t>metrics increased significantly</a:t>
            </a:r>
            <a:r>
              <a:rPr lang="pl" sz="2400"/>
              <a:t>. The biggest velocity of change was observed for Random Forest and the smallest for Support Vector Machine.</a:t>
            </a:r>
            <a:endParaRPr sz="2400"/>
          </a:p>
          <a:p>
            <a:pPr indent="-335280" lvl="0" marL="457200" rtl="0" algn="l">
              <a:spcBef>
                <a:spcPts val="0"/>
              </a:spcBef>
              <a:spcAft>
                <a:spcPts val="0"/>
              </a:spcAft>
              <a:buSzPct val="100000"/>
              <a:buChar char="-"/>
            </a:pPr>
            <a:r>
              <a:rPr lang="pl" sz="2400"/>
              <a:t>The best examples is </a:t>
            </a:r>
            <a:r>
              <a:rPr b="1" lang="pl" sz="2400"/>
              <a:t>Random Forest’s recall</a:t>
            </a:r>
            <a:r>
              <a:rPr lang="pl" sz="2400"/>
              <a:t> </a:t>
            </a:r>
            <a:r>
              <a:rPr b="1" lang="pl" sz="2400"/>
              <a:t>for rare drugs such as heroin or ketamine</a:t>
            </a:r>
            <a:r>
              <a:rPr lang="pl" sz="2400"/>
              <a:t>, where the percent change increase from pre-tuning to post-tuning is </a:t>
            </a:r>
            <a:r>
              <a:rPr b="1" lang="pl" sz="2400"/>
              <a:t>above 2000%</a:t>
            </a:r>
            <a:endParaRPr b="1" sz="2400"/>
          </a:p>
          <a:p>
            <a:pPr indent="-335280" lvl="0" marL="457200" rtl="0" algn="l">
              <a:spcBef>
                <a:spcPts val="0"/>
              </a:spcBef>
              <a:spcAft>
                <a:spcPts val="0"/>
              </a:spcAft>
              <a:buSzPct val="100000"/>
              <a:buChar char="-"/>
            </a:pPr>
            <a:r>
              <a:rPr lang="pl" sz="2400"/>
              <a:t>The abovementioned spectacular </a:t>
            </a:r>
            <a:r>
              <a:rPr b="1" lang="pl" sz="2400"/>
              <a:t>increases in recall are traded off for the decrease in precision</a:t>
            </a:r>
            <a:r>
              <a:rPr lang="pl" sz="2400"/>
              <a:t>. The biggest drop is -66% for ketamine</a:t>
            </a:r>
            <a:endParaRPr sz="2400"/>
          </a:p>
          <a:p>
            <a:pPr indent="-335280" lvl="0" marL="457200" rtl="0" algn="l">
              <a:spcBef>
                <a:spcPts val="0"/>
              </a:spcBef>
              <a:spcAft>
                <a:spcPts val="0"/>
              </a:spcAft>
              <a:buSzPct val="100000"/>
              <a:buChar char="-"/>
            </a:pPr>
            <a:r>
              <a:rPr lang="pl" sz="2400"/>
              <a:t>Soft drugs exhibited much fewer increases of performance metrics  compared to hard drugs</a:t>
            </a:r>
            <a:endParaRPr sz="2400"/>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Model selection</a:t>
            </a:r>
            <a:endParaRPr/>
          </a:p>
        </p:txBody>
      </p:sp>
      <p:sp>
        <p:nvSpPr>
          <p:cNvPr id="180" name="Google Shape;180;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pl"/>
              <a:t>Base accuracy</a:t>
            </a:r>
            <a:r>
              <a:rPr lang="pl"/>
              <a:t> was usually high (&gt;75%) for every drug, except for nicotine (close to 50%) - proof for the classes imbalance issue</a:t>
            </a:r>
            <a:endParaRPr/>
          </a:p>
          <a:p>
            <a:pPr indent="-342900" lvl="0" marL="457200" rtl="0" algn="l">
              <a:spcBef>
                <a:spcPts val="0"/>
              </a:spcBef>
              <a:spcAft>
                <a:spcPts val="0"/>
              </a:spcAft>
              <a:buSzPts val="1800"/>
              <a:buChar char="-"/>
            </a:pPr>
            <a:r>
              <a:rPr lang="pl"/>
              <a:t>No test set was touched at this phase</a:t>
            </a:r>
            <a:endParaRPr/>
          </a:p>
          <a:p>
            <a:pPr indent="-342900" lvl="0" marL="457200" rtl="0" algn="l">
              <a:spcBef>
                <a:spcPts val="0"/>
              </a:spcBef>
              <a:spcAft>
                <a:spcPts val="0"/>
              </a:spcAft>
              <a:buSzPts val="1800"/>
              <a:buChar char="-"/>
            </a:pPr>
            <a:r>
              <a:rPr b="1" lang="pl"/>
              <a:t>SGD was outperformed by Random Forest and SVM, </a:t>
            </a:r>
            <a:r>
              <a:rPr lang="pl"/>
              <a:t>despite giving as good results as the other two algorithms in balanced accuracy. The two algorithms gave significantly better precision &amp; recall</a:t>
            </a:r>
            <a:endParaRPr b="1"/>
          </a:p>
          <a:p>
            <a:pPr indent="-342900" lvl="0" marL="457200" rtl="0" algn="l">
              <a:spcBef>
                <a:spcPts val="0"/>
              </a:spcBef>
              <a:spcAft>
                <a:spcPts val="0"/>
              </a:spcAft>
              <a:buSzPts val="1800"/>
              <a:buChar char="-"/>
            </a:pPr>
            <a:r>
              <a:rPr b="1" lang="pl"/>
              <a:t>RF precision &gt; SVM precision for rare drugs, </a:t>
            </a:r>
            <a:r>
              <a:rPr lang="pl"/>
              <a:t>but smaller/comparable for soft drugs</a:t>
            </a:r>
            <a:endParaRPr/>
          </a:p>
          <a:p>
            <a:pPr indent="-342900" lvl="0" marL="457200" rtl="0" algn="l">
              <a:spcBef>
                <a:spcPts val="0"/>
              </a:spcBef>
              <a:spcAft>
                <a:spcPts val="0"/>
              </a:spcAft>
              <a:buSzPts val="1800"/>
              <a:buChar char="-"/>
            </a:pPr>
            <a:r>
              <a:rPr lang="pl"/>
              <a:t>SVM recall &gt; RF recall for rare drugs, but </a:t>
            </a:r>
            <a:r>
              <a:rPr b="1" lang="pl"/>
              <a:t>significantly smaller for soft drugs</a:t>
            </a:r>
            <a:endParaRPr b="1"/>
          </a:p>
          <a:p>
            <a:pPr indent="-342900" lvl="0" marL="457200" rtl="0" algn="l">
              <a:spcBef>
                <a:spcPts val="0"/>
              </a:spcBef>
              <a:spcAft>
                <a:spcPts val="0"/>
              </a:spcAft>
              <a:buSzPts val="1800"/>
              <a:buChar char="-"/>
            </a:pPr>
            <a:r>
              <a:rPr b="1" lang="pl"/>
              <a:t>The choice between RF and SVM depends on the research priorities</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6" name="Google Shape;186;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7" name="Google Shape;187;p37"/>
          <p:cNvPicPr preferRelativeResize="0"/>
          <p:nvPr/>
        </p:nvPicPr>
        <p:blipFill>
          <a:blip r:embed="rId3">
            <a:alphaModFix/>
          </a:blip>
          <a:stretch>
            <a:fillRect/>
          </a:stretch>
        </p:blipFill>
        <p:spPr>
          <a:xfrm>
            <a:off x="228600" y="174375"/>
            <a:ext cx="8686800" cy="4267200"/>
          </a:xfrm>
          <a:prstGeom prst="rect">
            <a:avLst/>
          </a:prstGeom>
          <a:noFill/>
          <a:ln>
            <a:noFill/>
          </a:ln>
        </p:spPr>
      </p:pic>
      <p:sp>
        <p:nvSpPr>
          <p:cNvPr id="188" name="Google Shape;188;p37"/>
          <p:cNvSpPr txBox="1"/>
          <p:nvPr/>
        </p:nvSpPr>
        <p:spPr>
          <a:xfrm>
            <a:off x="688425" y="4700375"/>
            <a:ext cx="7596600" cy="22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l" sz="1000" u="sng">
                <a:solidFill>
                  <a:schemeClr val="hlink"/>
                </a:solidFill>
                <a:latin typeface="Average"/>
                <a:ea typeface="Average"/>
                <a:cs typeface="Average"/>
                <a:sym typeface="Average"/>
                <a:hlinkClick r:id="rId4"/>
              </a:rPr>
              <a:t>https://docs.google.com/spreadsheets/d/1ELvo4NLeOdF1JmAAhxz7UHt85nzaauMW2xkVVpqtnAY/edit?usp=sharing</a:t>
            </a:r>
            <a:endParaRPr sz="1000">
              <a:solidFill>
                <a:schemeClr val="accent3"/>
              </a:solidFill>
              <a:latin typeface="Average"/>
              <a:ea typeface="Average"/>
              <a:cs typeface="Average"/>
              <a:sym typeface="Average"/>
            </a:endParaRPr>
          </a:p>
          <a:p>
            <a:pPr indent="0" lvl="0" marL="0" rtl="0" algn="l">
              <a:spcBef>
                <a:spcPts val="0"/>
              </a:spcBef>
              <a:spcAft>
                <a:spcPts val="0"/>
              </a:spcAft>
              <a:buNone/>
            </a:pPr>
            <a:r>
              <a:t/>
            </a:r>
            <a:endParaRPr sz="1800">
              <a:solidFill>
                <a:schemeClr val="accent3"/>
              </a:solidFill>
              <a:latin typeface="Average"/>
              <a:ea typeface="Average"/>
              <a:cs typeface="Average"/>
              <a:sym typeface="Averag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8"/>
          <p:cNvSpPr txBox="1"/>
          <p:nvPr>
            <p:ph type="title"/>
          </p:nvPr>
        </p:nvSpPr>
        <p:spPr>
          <a:xfrm>
            <a:off x="311700" y="445025"/>
            <a:ext cx="8520600" cy="572700"/>
          </a:xfrm>
          <a:prstGeom prst="rect">
            <a:avLst/>
          </a:prstGeom>
        </p:spPr>
        <p:txBody>
          <a:bodyPr anchorCtr="0" anchor="t" bIns="91425" lIns="91425" spcFirstLastPara="1" rIns="53450" wrap="square" tIns="91425">
            <a:normAutofit fontScale="90000"/>
          </a:bodyPr>
          <a:lstStyle/>
          <a:p>
            <a:pPr indent="0" lvl="0" marL="0" rtl="0" algn="ctr">
              <a:spcBef>
                <a:spcPts val="0"/>
              </a:spcBef>
              <a:spcAft>
                <a:spcPts val="0"/>
              </a:spcAft>
              <a:buNone/>
            </a:pPr>
            <a:r>
              <a:rPr lang="pl"/>
              <a:t>SVM on the test set</a:t>
            </a:r>
            <a:endParaRPr/>
          </a:p>
        </p:txBody>
      </p:sp>
      <p:sp>
        <p:nvSpPr>
          <p:cNvPr id="194" name="Google Shape;194;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pl"/>
              <a:t>very similar base accuracy, proving correct stratification at the train/test split</a:t>
            </a:r>
            <a:endParaRPr/>
          </a:p>
          <a:p>
            <a:pPr indent="-342900" lvl="0" marL="457200" rtl="0" algn="l">
              <a:spcBef>
                <a:spcPts val="0"/>
              </a:spcBef>
              <a:spcAft>
                <a:spcPts val="0"/>
              </a:spcAft>
              <a:buSzPts val="1800"/>
              <a:buChar char="-"/>
            </a:pPr>
            <a:r>
              <a:rPr lang="pl"/>
              <a:t>similar/slightly lower classification metrics to validation samples. We avoided extensive overfit at the training phase</a:t>
            </a:r>
            <a:endParaRPr/>
          </a:p>
          <a:p>
            <a:pPr indent="-342900" lvl="0" marL="457200" rtl="0" algn="l">
              <a:spcBef>
                <a:spcPts val="0"/>
              </a:spcBef>
              <a:spcAft>
                <a:spcPts val="0"/>
              </a:spcAft>
              <a:buSzPts val="1800"/>
              <a:buChar char="-"/>
            </a:pPr>
            <a:r>
              <a:rPr lang="pl"/>
              <a:t>Next, we included other drugs recent usage binary features in the set of independent variables. The results improved significantly (table on the right). The left table represents the test sample results for the initial model</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00" name="Google Shape;200;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1" name="Google Shape;201;p39"/>
          <p:cNvPicPr preferRelativeResize="0"/>
          <p:nvPr/>
        </p:nvPicPr>
        <p:blipFill>
          <a:blip r:embed="rId3">
            <a:alphaModFix/>
          </a:blip>
          <a:stretch>
            <a:fillRect/>
          </a:stretch>
        </p:blipFill>
        <p:spPr>
          <a:xfrm>
            <a:off x="0" y="0"/>
            <a:ext cx="3988450" cy="5143500"/>
          </a:xfrm>
          <a:prstGeom prst="rect">
            <a:avLst/>
          </a:prstGeom>
          <a:noFill/>
          <a:ln>
            <a:noFill/>
          </a:ln>
        </p:spPr>
      </p:pic>
      <p:pic>
        <p:nvPicPr>
          <p:cNvPr id="202" name="Google Shape;202;p39"/>
          <p:cNvPicPr preferRelativeResize="0"/>
          <p:nvPr/>
        </p:nvPicPr>
        <p:blipFill>
          <a:blip r:embed="rId4">
            <a:alphaModFix/>
          </a:blip>
          <a:stretch>
            <a:fillRect/>
          </a:stretch>
        </p:blipFill>
        <p:spPr>
          <a:xfrm>
            <a:off x="5155541" y="0"/>
            <a:ext cx="3988469"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l"/>
              <a:t>TL;DR</a:t>
            </a:r>
            <a:endParaRPr/>
          </a:p>
        </p:txBody>
      </p:sp>
      <p:sp>
        <p:nvSpPr>
          <p:cNvPr id="208" name="Google Shape;208;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pl"/>
              <a:t>SHAP </a:t>
            </a:r>
            <a:r>
              <a:rPr lang="pl"/>
              <a:t>analysis on the SVM training set showed that</a:t>
            </a:r>
            <a:r>
              <a:rPr b="1" lang="pl"/>
              <a:t> age had the strongest influence on predictions</a:t>
            </a:r>
            <a:r>
              <a:rPr lang="pl"/>
              <a:t>, while ethnicity had the weakest. Among personality traits, only </a:t>
            </a:r>
            <a:r>
              <a:rPr b="1" lang="pl"/>
              <a:t>neuroticism and sensation</a:t>
            </a:r>
            <a:r>
              <a:rPr lang="pl"/>
              <a:t> seeking showed non-negligible effects compared to demographic variables.</a:t>
            </a:r>
            <a:endParaRPr/>
          </a:p>
          <a:p>
            <a:pPr indent="-342900" lvl="0" marL="457200" rtl="0" algn="l">
              <a:spcBef>
                <a:spcPts val="0"/>
              </a:spcBef>
              <a:spcAft>
                <a:spcPts val="0"/>
              </a:spcAft>
              <a:buSzPts val="1800"/>
              <a:buChar char="-"/>
            </a:pPr>
            <a:r>
              <a:rPr lang="pl"/>
              <a:t>We introduced</a:t>
            </a:r>
            <a:r>
              <a:rPr b="1" lang="pl"/>
              <a:t> age–gender and age–country interaction terms</a:t>
            </a:r>
            <a:r>
              <a:rPr lang="pl"/>
              <a:t> and applied </a:t>
            </a:r>
            <a:r>
              <a:rPr b="1" lang="pl"/>
              <a:t>PCA to personality traits </a:t>
            </a:r>
            <a:r>
              <a:rPr lang="pl"/>
              <a:t>(excluding neuroticism and sensation seeking), replacing them with the first two principal components. We dropped the </a:t>
            </a:r>
            <a:r>
              <a:rPr b="1" lang="pl"/>
              <a:t>ethnicity </a:t>
            </a:r>
            <a:r>
              <a:rPr lang="pl"/>
              <a:t>column.</a:t>
            </a:r>
            <a:endParaRPr/>
          </a:p>
          <a:p>
            <a:pPr indent="-342900" lvl="0" marL="457200" rtl="0" algn="l">
              <a:spcBef>
                <a:spcPts val="0"/>
              </a:spcBef>
              <a:spcAft>
                <a:spcPts val="0"/>
              </a:spcAft>
              <a:buSzPts val="1800"/>
              <a:buChar char="-"/>
            </a:pPr>
            <a:r>
              <a:rPr lang="pl"/>
              <a:t>The performance metrics did not improve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